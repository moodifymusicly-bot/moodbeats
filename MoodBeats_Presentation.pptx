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3657600"/>
            <a:ext cx="4572000" cy="4572000"/>
          </a:xfrm>
          <a:prstGeom prst="ellipse">
            <a:avLst/>
          </a:prstGeom>
          <a:solidFill>
            <a:srgbClr val="0F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0" y="-1828800"/>
            <a:ext cx="2743200" cy="2743200"/>
          </a:xfrm>
          <a:prstGeom prst="ellipse">
            <a:avLst/>
          </a:prstGeom>
          <a:solidFill>
            <a:srgbClr val="2A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  <a:latin typeface="Calibri"/>
              </a:defRPr>
            </a:pPr>
            <a:r>
              <a:t>🎵  MoodBeats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8B5CF6"/>
                </a:solidFill>
                <a:latin typeface="Calibri"/>
              </a:defRPr>
            </a:pPr>
            <a:r>
              <a:t>AI-Powered Music Recommendation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6616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99999"/>
                </a:solidFill>
                <a:latin typeface="Calibri"/>
              </a:defRPr>
            </a:pPr>
            <a:r>
              <a:t>Feel the Music. Let Your Mood Choose the Playlist.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4389120"/>
            <a:ext cx="3657600" cy="27432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6634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Calibri"/>
              </a:defRPr>
            </a:pPr>
            <a:r>
              <a:t>Created by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0292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2D3EE"/>
                </a:solidFill>
                <a:latin typeface="Calibri"/>
              </a:defRPr>
            </a:pPr>
            <a:r>
              <a:t>Chintan Kumar Jana  •  Aditya Kumar Parashar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6692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Calibri"/>
              </a:defRPr>
            </a:pPr>
            <a:r>
              <a:t>B.Tech  |  Computer Science &amp; Engineering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1 / 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📋  Presentation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394960" cy="4846320"/>
          </a:xfrm>
          <a:prstGeom prst="roundRect">
            <a:avLst/>
          </a:prstGeom>
          <a:solidFill>
            <a:srgbClr val="121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01 — The Problem with Music Streaming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02 — Why We Built MoodBeats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14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03 — What MoodBeats Does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175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04 — System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5204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05 — Frontend Technology Stack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0233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06 — Backend Technology Stack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526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07 — Emotion Detection Pipeline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0292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08 — Computer Vision &amp; DeepFace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532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09 — OpenCV &amp; DeepFace in Practice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371600"/>
            <a:ext cx="5394960" cy="4846320"/>
          </a:xfrm>
          <a:prstGeom prst="roundRect">
            <a:avLst/>
          </a:prstGeom>
          <a:solidFill>
            <a:srgbClr val="121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5087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10 — The Hybrid Recommendation Engine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011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11 — Machine Learning with PyTorch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514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12 — FAISS Vector Search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0175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13 — Live Recommendation Flow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5204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14 — Song Audio Features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0233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15 — What We've Built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526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16 — Future Roadmap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50292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17 — Thank You &amp; Q&amp;A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2 / 17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00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alibri"/>
              </a:defRPr>
            </a:pPr>
            <a:r>
              <a:t>🎵 MoodBeats — AI-Powered Music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😤  The Problem with Music Streaming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99999"/>
                </a:solidFill>
                <a:latin typeface="Calibri"/>
              </a:defRPr>
            </a:pPr>
            <a:r>
              <a:t>Modern streaming platforms have a fundamental disconnect with human emotion.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5394960" cy="1828800"/>
          </a:xfrm>
          <a:prstGeom prst="roundRect">
            <a:avLst/>
          </a:prstGeom>
          <a:solidFill>
            <a:srgbClr val="121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472B6"/>
                </a:solidFill>
                <a:latin typeface="Calibri"/>
              </a:defRPr>
            </a:pPr>
            <a:r>
              <a:t>🔁  Choice Paralysis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3464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100M+ songs available, yet users replay the same 10 tracks. More options = harder decisions.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394960" cy="1828800"/>
          </a:xfrm>
          <a:prstGeom prst="roundRect">
            <a:avLst/>
          </a:prstGeom>
          <a:solidFill>
            <a:srgbClr val="121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1945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472B6"/>
                </a:solidFill>
                <a:latin typeface="Calibri"/>
              </a:defRPr>
            </a:pPr>
            <a:r>
              <a:t>🧊  Cold Algorithms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83464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Recommendations based on yesterday's history — useless when today's mood is completely different.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206240"/>
            <a:ext cx="5394960" cy="1828800"/>
          </a:xfrm>
          <a:prstGeom prst="roundRect">
            <a:avLst/>
          </a:prstGeom>
          <a:solidFill>
            <a:srgbClr val="121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3891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472B6"/>
                </a:solidFill>
                <a:latin typeface="Calibri"/>
              </a:defRPr>
            </a:pPr>
            <a:r>
              <a:t>🎭  No Emotional Context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02920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Apps optimize for retention loops and engagement, not for emotional alignment in the moment.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206240"/>
            <a:ext cx="5394960" cy="1828800"/>
          </a:xfrm>
          <a:prstGeom prst="roundRect">
            <a:avLst/>
          </a:prstGeom>
          <a:solidFill>
            <a:srgbClr val="121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43891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472B6"/>
                </a:solidFill>
                <a:latin typeface="Calibri"/>
              </a:defRPr>
            </a:pPr>
            <a:r>
              <a:t>😰  Listening Fatigue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502920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Scrolling through endless catalogs feels like work, not like discovering music you love.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3 / 17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400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alibri"/>
              </a:defRPr>
            </a:pPr>
            <a:r>
              <a:t>🎵 MoodBeats — AI-Powered Music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💡  Why We Built MoodBeats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99999"/>
                </a:solidFill>
                <a:latin typeface="Calibri"/>
              </a:defRPr>
            </a:pPr>
            <a:r>
              <a:t>Music has always been a reflection of the human condition. We wanted to build something that feels alive.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920240"/>
            <a:ext cx="11247120" cy="960120"/>
          </a:xfrm>
          <a:prstGeom prst="roundRect">
            <a:avLst/>
          </a:prstGeom>
          <a:solidFill>
            <a:srgbClr val="121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011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2D3EE"/>
                </a:solidFill>
                <a:latin typeface="Calibri"/>
              </a:defRPr>
            </a:pPr>
            <a:r>
              <a:t>Emotion-First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377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Users don't start with a song title — they start with a state: tired, hyped, nostalgic, focused. MoodBeats asks for mood first, track second.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063240"/>
            <a:ext cx="11247120" cy="960120"/>
          </a:xfrm>
          <a:prstGeom prst="roundRect">
            <a:avLst/>
          </a:prstGeom>
          <a:solidFill>
            <a:srgbClr val="121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1546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154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2D3EE"/>
                </a:solidFill>
                <a:latin typeface="Calibri"/>
              </a:defRPr>
            </a:pPr>
            <a:r>
              <a:t>Your Face is the Search Query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520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Instead of typing keywords, let the camera read your expression and auto-match music to how you feel right now.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206240"/>
            <a:ext cx="11247120" cy="960120"/>
          </a:xfrm>
          <a:prstGeom prst="roundRect">
            <a:avLst/>
          </a:prstGeom>
          <a:solidFill>
            <a:srgbClr val="121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2976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297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2D3EE"/>
                </a:solidFill>
                <a:latin typeface="Calibri"/>
              </a:defRPr>
            </a:pPr>
            <a:r>
              <a:t>AI-Driven Personalization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663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Build a system that learns your patterns — what genres you prefer at night vs morning, what you skip vs replay.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349240"/>
            <a:ext cx="11247120" cy="960120"/>
          </a:xfrm>
          <a:prstGeom prst="roundRect">
            <a:avLst/>
          </a:prstGeom>
          <a:solidFill>
            <a:srgbClr val="121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4406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5440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2D3EE"/>
                </a:solidFill>
                <a:latin typeface="Calibri"/>
              </a:defRPr>
            </a:pPr>
            <a:r>
              <a:t>Immersive Experience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5806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Make listening feel like an event, not a background task. GPU shaders, mood-adaptive gradients, cinema-mode playback.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4 / 17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00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alibri"/>
              </a:defRPr>
            </a:pPr>
            <a:r>
              <a:t>🎵 MoodBeats — AI-Powered Music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✨  What MoodBeats Can Do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5394960" cy="1051560"/>
          </a:xfrm>
          <a:prstGeom prst="roundRect">
            <a:avLst/>
          </a:prstGeom>
          <a:solidFill>
            <a:srgbClr val="121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Calibri"/>
              </a:defRPr>
            </a:pPr>
            <a:r>
              <a:t>🧠  6 Mood Modes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Happy • Sad • Gym • Study • Rock • Fear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5394960" cy="1051560"/>
          </a:xfrm>
          <a:prstGeom prst="roundRect">
            <a:avLst/>
          </a:prstGeom>
          <a:solidFill>
            <a:srgbClr val="121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B5CF6"/>
                </a:solidFill>
                <a:latin typeface="Calibri"/>
              </a:defRPr>
            </a:pPr>
            <a:r>
              <a:t>📷  Camera Mood Detection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Real-time face expression → emotion → mood mapping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560320"/>
            <a:ext cx="5394960" cy="1051560"/>
          </a:xfrm>
          <a:prstGeom prst="roundRect">
            <a:avLst/>
          </a:prstGeom>
          <a:solidFill>
            <a:srgbClr val="121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6517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2D3EE"/>
                </a:solidFill>
                <a:latin typeface="Calibri"/>
              </a:defRPr>
            </a:pPr>
            <a:r>
              <a:t>🎯  Hybrid Recommender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1089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α·MoodMatch + β·UserSimilarity + γ·Popularity + δ·Freshness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560320"/>
            <a:ext cx="5394960" cy="1051560"/>
          </a:xfrm>
          <a:prstGeom prst="roundRect">
            <a:avLst/>
          </a:prstGeom>
          <a:solidFill>
            <a:srgbClr val="121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6517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472B6"/>
                </a:solidFill>
                <a:latin typeface="Calibri"/>
              </a:defRPr>
            </a:pPr>
            <a:r>
              <a:t>🔥  PyTorch ML Pipeline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1089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Transformer user encoder + song embeddings + FAISS search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840479"/>
            <a:ext cx="5394960" cy="1051560"/>
          </a:xfrm>
          <a:prstGeom prst="roundRect">
            <a:avLst/>
          </a:prstGeom>
          <a:solidFill>
            <a:srgbClr val="121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93191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9333EA"/>
                </a:solidFill>
                <a:latin typeface="Calibri"/>
              </a:defRPr>
            </a:pPr>
            <a:r>
              <a:t>🎨  Premium Dark UI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38911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Glassmorphism, mood gradients, Framer Motion, GPU shaders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840479"/>
            <a:ext cx="5394960" cy="1051560"/>
          </a:xfrm>
          <a:prstGeom prst="roundRect">
            <a:avLst/>
          </a:prstGeom>
          <a:solidFill>
            <a:srgbClr val="121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393191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8B57"/>
                </a:solidFill>
                <a:latin typeface="Calibri"/>
              </a:defRPr>
            </a:pPr>
            <a:r>
              <a:t>🔐  JWT Authentication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38911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Register, login, demo account support via Clerk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120640"/>
            <a:ext cx="5394960" cy="1051560"/>
          </a:xfrm>
          <a:prstGeom prst="roundRect">
            <a:avLst/>
          </a:prstGeom>
          <a:solidFill>
            <a:srgbClr val="121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212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169E1"/>
                </a:solidFill>
                <a:latin typeface="Calibri"/>
              </a:defRPr>
            </a:pPr>
            <a:r>
              <a:t>📱  Responsive Design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669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Mobile-first with full-screen cinema player mode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5120640"/>
            <a:ext cx="5394960" cy="1051560"/>
          </a:xfrm>
          <a:prstGeom prst="roundRect">
            <a:avLst/>
          </a:prstGeom>
          <a:solidFill>
            <a:srgbClr val="121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5212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C143C"/>
                </a:solidFill>
                <a:latin typeface="Calibri"/>
              </a:defRPr>
            </a:pPr>
            <a:r>
              <a:t>▶️  YouTube Integration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5669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YouTube Data API v3 for search + embedded playback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5 / 17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6400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alibri"/>
              </a:defRPr>
            </a:pPr>
            <a:r>
              <a:t>🎵 MoodBeats — AI-Powered Music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🏗️  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3474720" cy="4754880"/>
          </a:xfrm>
          <a:prstGeom prst="roundRect">
            <a:avLst/>
          </a:prstGeom>
          <a:solidFill>
            <a:srgbClr val="121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347472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B5CF6"/>
                </a:solidFill>
                <a:latin typeface="Calibri"/>
              </a:defRPr>
            </a:pPr>
            <a:r>
              <a:t>🖥️ Perception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Calibri"/>
              </a:defRPr>
            </a:pPr>
            <a:r>
              <a:t>Detect user mood from face or manual 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• face-api.js (in-browser FER)</a:t>
            </a:r>
            <a:br/>
            <a:r>
              <a:t>• Emotion → Mood mapping</a:t>
            </a:r>
            <a:br/>
            <a:r>
              <a:t>• Manual mood pill selection</a:t>
            </a:r>
            <a:br/>
            <a:r>
              <a:t>• Webcam stream processing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371600"/>
            <a:ext cx="3474720" cy="4754880"/>
          </a:xfrm>
          <a:prstGeom prst="roundRect">
            <a:avLst/>
          </a:prstGeom>
          <a:solidFill>
            <a:srgbClr val="121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371600"/>
            <a:ext cx="347472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5544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2D3EE"/>
                </a:solidFill>
                <a:latin typeface="Calibri"/>
              </a:defRPr>
            </a:pPr>
            <a:r>
              <a:t>🧠 Intelligence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1031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Calibri"/>
              </a:defRPr>
            </a:pPr>
            <a:r>
              <a:t>Score &amp; rank songs based on mood + history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74320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• PyTorch HybridRecommender</a:t>
            </a:r>
            <a:br/>
            <a:r>
              <a:t>• FAISS vector search (sub-ms ANN)</a:t>
            </a:r>
            <a:br/>
            <a:r>
              <a:t>• Hybrid scoring formula</a:t>
            </a:r>
            <a:br/>
            <a:r>
              <a:t>• BPR training loss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371600"/>
            <a:ext cx="3474720" cy="4754880"/>
          </a:xfrm>
          <a:prstGeom prst="roundRect">
            <a:avLst/>
          </a:prstGeom>
          <a:solidFill>
            <a:srgbClr val="121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371600"/>
            <a:ext cx="3474720" cy="54864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5544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472B6"/>
                </a:solidFill>
                <a:latin typeface="Calibri"/>
              </a:defRPr>
            </a:pPr>
            <a:r>
              <a:t>📡 Delivery Layer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1031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Calibri"/>
              </a:defRPr>
            </a:pPr>
            <a:r>
              <a:t>Stream music &amp; capture feedback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74320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• YouTube IFrame API playback</a:t>
            </a:r>
            <a:br/>
            <a:r>
              <a:t>• FastAPI REST endpoints</a:t>
            </a:r>
            <a:br/>
            <a:r>
              <a:t>• Interaction logging</a:t>
            </a:r>
            <a:br/>
            <a:r>
              <a:t>• Redis caching layer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6263640"/>
            <a:ext cx="11247120" cy="365760"/>
          </a:xfrm>
          <a:prstGeom prst="roundRect">
            <a:avLst/>
          </a:prstGeom>
          <a:solidFill>
            <a:srgbClr val="121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6263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99999"/>
                </a:solidFill>
                <a:latin typeface="Calibri"/>
              </a:defRPr>
            </a:pPr>
            <a:r>
              <a:t>PostgreSQL  •  Redis  •  FAISS  •  PyTorch  •  Next.js 14  •  FastAPI  •  Docker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6 / 17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00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alibri"/>
              </a:defRPr>
            </a:pPr>
            <a:r>
              <a:t>🎵 MoodBeats — AI-Powered Music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🖥️  Frontend Technology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5394960" cy="1051560"/>
          </a:xfrm>
          <a:prstGeom prst="roundRect">
            <a:avLst/>
          </a:prstGeom>
          <a:solidFill>
            <a:srgbClr val="121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5331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B5CF6"/>
                </a:solidFill>
                <a:latin typeface="Calibri"/>
              </a:defRPr>
            </a:pPr>
            <a:r>
              <a:t>Next.js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1920" y="138988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Core Framework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App Router, server components, optimized rendering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394960" cy="1051560"/>
          </a:xfrm>
          <a:prstGeom prst="roundRect">
            <a:avLst/>
          </a:prstGeom>
          <a:solidFill>
            <a:srgbClr val="121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35331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B5CF6"/>
                </a:solidFill>
                <a:latin typeface="Calibri"/>
              </a:defRPr>
            </a:pPr>
            <a:r>
              <a:t>TypeScript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138988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Language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7830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Full type safety across components and API contracts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560320"/>
            <a:ext cx="5394960" cy="1051560"/>
          </a:xfrm>
          <a:prstGeom prst="roundRect">
            <a:avLst/>
          </a:prstGeom>
          <a:solidFill>
            <a:srgbClr val="121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63347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B5CF6"/>
                </a:solidFill>
                <a:latin typeface="Calibri"/>
              </a:defRPr>
            </a:pPr>
            <a:r>
              <a:t>Tailwind CSS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267004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Styling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0632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Utility-driven styling with mood-based CSS variable shifts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560320"/>
            <a:ext cx="5394960" cy="1051560"/>
          </a:xfrm>
          <a:prstGeom prst="roundRect">
            <a:avLst/>
          </a:prstGeom>
          <a:solidFill>
            <a:srgbClr val="121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63347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B5CF6"/>
                </a:solidFill>
                <a:latin typeface="Calibri"/>
              </a:defRPr>
            </a:pPr>
            <a:r>
              <a:t>Framer Motion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0" y="267004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Animation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0632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Smooth animated transitions between mood states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840479"/>
            <a:ext cx="5394960" cy="1051560"/>
          </a:xfrm>
          <a:prstGeom prst="roundRect">
            <a:avLst/>
          </a:prstGeom>
          <a:solidFill>
            <a:srgbClr val="121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913631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B5CF6"/>
                </a:solidFill>
                <a:latin typeface="Calibri"/>
              </a:defRPr>
            </a:pPr>
            <a:r>
              <a:t>Radix UI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1920" y="3950207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Components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34339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Accessible primitives: dialogs, menus, sliders, popovers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840479"/>
            <a:ext cx="5394960" cy="1051560"/>
          </a:xfrm>
          <a:prstGeom prst="roundRect">
            <a:avLst/>
          </a:prstGeom>
          <a:solidFill>
            <a:srgbClr val="121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3913631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B5CF6"/>
                </a:solidFill>
                <a:latin typeface="Calibri"/>
              </a:defRPr>
            </a:pPr>
            <a:r>
              <a:t>face-api.js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92640" y="3950207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Computer Vision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34339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Client-side face detection via @vladmandic/face-api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5120640"/>
            <a:ext cx="5394960" cy="1051560"/>
          </a:xfrm>
          <a:prstGeom prst="roundRect">
            <a:avLst/>
          </a:prstGeom>
          <a:solidFill>
            <a:srgbClr val="121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19379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B5CF6"/>
                </a:solidFill>
                <a:latin typeface="Calibri"/>
              </a:defRPr>
            </a:pPr>
            <a:r>
              <a:t>Three.js + GLSL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31920" y="523036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Visuals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6235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GPU-powered procedural shader backgrounds per mood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5120640"/>
            <a:ext cx="5394960" cy="1051560"/>
          </a:xfrm>
          <a:prstGeom prst="roundRect">
            <a:avLst/>
          </a:prstGeom>
          <a:solidFill>
            <a:srgbClr val="121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519379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B5CF6"/>
                </a:solidFill>
                <a:latin typeface="Calibri"/>
              </a:defRPr>
            </a:pPr>
            <a:r>
              <a:t>Clerk Auth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92640" y="523036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Authentication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56235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OAuth / social login with minimal boilerplate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7 / 17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00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alibri"/>
              </a:defRPr>
            </a:pPr>
            <a:r>
              <a:t>🎵 MoodBeats — AI-Powered Music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⚙️  Backend Technology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5394960" cy="1051560"/>
          </a:xfrm>
          <a:prstGeom prst="roundRect">
            <a:avLst/>
          </a:prstGeom>
          <a:solidFill>
            <a:srgbClr val="121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5331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2D3EE"/>
                </a:solidFill>
                <a:latin typeface="Calibri"/>
              </a:defRPr>
            </a:pPr>
            <a:r>
              <a:t>FastAPI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1920" y="138988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Framework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High-performance async Python framework with auto-generated OpenAPI docs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394960" cy="1051560"/>
          </a:xfrm>
          <a:prstGeom prst="roundRect">
            <a:avLst/>
          </a:prstGeom>
          <a:solidFill>
            <a:srgbClr val="121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35331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2D3EE"/>
                </a:solidFill>
                <a:latin typeface="Calibri"/>
              </a:defRPr>
            </a:pPr>
            <a:r>
              <a:t>PostgreSQL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138988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Database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7830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Relational DB for structured data: users, songs, interactions, mood_history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560320"/>
            <a:ext cx="5394960" cy="1051560"/>
          </a:xfrm>
          <a:prstGeom prst="roundRect">
            <a:avLst/>
          </a:prstGeom>
          <a:solidFill>
            <a:srgbClr val="121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63347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2D3EE"/>
                </a:solidFill>
                <a:latin typeface="Calibri"/>
              </a:defRPr>
            </a:pPr>
            <a:r>
              <a:t>Redis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267004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Caching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0632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In-memory caching for recommendation results — sub-ms response times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560320"/>
            <a:ext cx="5394960" cy="1051560"/>
          </a:xfrm>
          <a:prstGeom prst="roundRect">
            <a:avLst/>
          </a:prstGeom>
          <a:solidFill>
            <a:srgbClr val="121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63347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2D3EE"/>
                </a:solidFill>
                <a:latin typeface="Calibri"/>
              </a:defRPr>
            </a:pPr>
            <a:r>
              <a:t>SQLAlchemy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0" y="267004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ORM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0632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Async ORM with full migration support for schema evolution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840479"/>
            <a:ext cx="5394960" cy="1051560"/>
          </a:xfrm>
          <a:prstGeom prst="roundRect">
            <a:avLst/>
          </a:prstGeom>
          <a:solidFill>
            <a:srgbClr val="121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913631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2D3EE"/>
                </a:solidFill>
                <a:latin typeface="Calibri"/>
              </a:defRPr>
            </a:pPr>
            <a:r>
              <a:t>PyTorch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1920" y="3950207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ML Engine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34339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Neural hybrid recommender: Transformer user encoder + MLP scorer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840479"/>
            <a:ext cx="5394960" cy="1051560"/>
          </a:xfrm>
          <a:prstGeom prst="roundRect">
            <a:avLst/>
          </a:prstGeom>
          <a:solidFill>
            <a:srgbClr val="121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3913631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2D3EE"/>
                </a:solidFill>
                <a:latin typeface="Calibri"/>
              </a:defRPr>
            </a:pPr>
            <a:r>
              <a:t>FAISS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92640" y="3950207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Vector Search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34339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Facebook AI Similarity Search for sub-ms approximate nearest neighbor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5120640"/>
            <a:ext cx="5394960" cy="1051560"/>
          </a:xfrm>
          <a:prstGeom prst="roundRect">
            <a:avLst/>
          </a:prstGeom>
          <a:solidFill>
            <a:srgbClr val="121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19379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2D3EE"/>
                </a:solidFill>
                <a:latin typeface="Calibri"/>
              </a:defRPr>
            </a:pPr>
            <a:r>
              <a:t>Docker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31920" y="523036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DevOps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6235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Containerized deployment with docker-compose for PostgreSQL + Redis + API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5120640"/>
            <a:ext cx="5394960" cy="1051560"/>
          </a:xfrm>
          <a:prstGeom prst="roundRect">
            <a:avLst/>
          </a:prstGeom>
          <a:solidFill>
            <a:srgbClr val="121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519379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2D3EE"/>
                </a:solidFill>
                <a:latin typeface="Calibri"/>
              </a:defRPr>
            </a:pPr>
            <a:r>
              <a:t>JWT Auth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92640" y="523036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Security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56235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Secure token-based authentication with bcrypt password hashing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8 / 17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00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alibri"/>
              </a:defRPr>
            </a:pPr>
            <a:r>
              <a:t>🎵 MoodBeats — AI-Powered Music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🎭  Emotion Detection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Calibri"/>
              </a:defRPr>
            </a:pPr>
            <a:r>
              <a:t>Camera → Face Detection → Expression Classification → Mood Mapping → Music Selection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2011680"/>
            <a:ext cx="2103120" cy="4114800"/>
          </a:xfrm>
          <a:prstGeom prst="roundRect">
            <a:avLst/>
          </a:prstGeom>
          <a:solidFill>
            <a:srgbClr val="121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51560" y="2148840"/>
            <a:ext cx="457200" cy="4572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19456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7432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8B5CF6"/>
                </a:solidFill>
                <a:latin typeface="Calibri"/>
              </a:defRPr>
            </a:pPr>
            <a:r>
              <a:t>📷 Webcam Capture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291840"/>
            <a:ext cx="19202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Browser requests camera access</a:t>
            </a:r>
            <a:br/>
            <a:r>
              <a:t>HTML5 getUserMedia API</a:t>
            </a:r>
            <a:br/>
            <a:r>
              <a:t>Secure context required (HTTPS)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06039" y="2011680"/>
            <a:ext cx="2103120" cy="4114800"/>
          </a:xfrm>
          <a:prstGeom prst="roundRect">
            <a:avLst/>
          </a:prstGeom>
          <a:solidFill>
            <a:srgbClr val="121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383279" y="2148840"/>
            <a:ext cx="457200" cy="45720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79" y="219456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79" y="27432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2D3EE"/>
                </a:solidFill>
                <a:latin typeface="Calibri"/>
              </a:defRPr>
            </a:pPr>
            <a:r>
              <a:t>👤 Face Detection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79" y="3291840"/>
            <a:ext cx="19202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face-api.js loads CNN models</a:t>
            </a:r>
            <a:br/>
            <a:r>
              <a:t>Tiny Face Detector (SSD)</a:t>
            </a:r>
            <a:br/>
            <a:r>
              <a:t>68-point facial landmarks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37759" y="2011680"/>
            <a:ext cx="2103120" cy="4114800"/>
          </a:xfrm>
          <a:prstGeom prst="roundRect">
            <a:avLst/>
          </a:prstGeom>
          <a:solidFill>
            <a:srgbClr val="121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714999" y="2148840"/>
            <a:ext cx="457200" cy="457200"/>
          </a:xfrm>
          <a:prstGeom prst="ellipse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14999" y="219456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199" y="27432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472B6"/>
                </a:solidFill>
                <a:latin typeface="Calibri"/>
              </a:defRPr>
            </a:pPr>
            <a:r>
              <a:t>😊 Expression Analysis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199" y="3291840"/>
            <a:ext cx="19202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7 micro-expressions classified:</a:t>
            </a:r>
            <a:br/>
            <a:r>
              <a:t>happy, sad, angry, surprised,</a:t>
            </a:r>
            <a:br/>
            <a:r>
              <a:t>fearful, disgusted, neutral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69479" y="2011680"/>
            <a:ext cx="2103120" cy="4114800"/>
          </a:xfrm>
          <a:prstGeom prst="roundRect">
            <a:avLst/>
          </a:prstGeom>
          <a:solidFill>
            <a:srgbClr val="121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046719" y="2148840"/>
            <a:ext cx="457200" cy="457200"/>
          </a:xfrm>
          <a:prstGeom prst="ellipse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19" y="219456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60919" y="27432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9333EA"/>
                </a:solidFill>
                <a:latin typeface="Calibri"/>
              </a:defRPr>
            </a:pPr>
            <a:r>
              <a:t>🧠 Confidence Scoring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19" y="3291840"/>
            <a:ext cx="19202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Multiple samples over scan window</a:t>
            </a:r>
            <a:br/>
            <a:r>
              <a:t>Expression values accumulated</a:t>
            </a:r>
            <a:br/>
            <a:r>
              <a:t>Dominant expression selected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01200" y="2011680"/>
            <a:ext cx="2103120" cy="4114800"/>
          </a:xfrm>
          <a:prstGeom prst="roundRect">
            <a:avLst/>
          </a:prstGeom>
          <a:solidFill>
            <a:srgbClr val="121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378440" y="2148840"/>
            <a:ext cx="457200" cy="45720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378440" y="219456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92640" y="27432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D700"/>
                </a:solidFill>
                <a:latin typeface="Calibri"/>
              </a:defRPr>
            </a:pPr>
            <a:r>
              <a:t>🎵 Mood Mapping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0" y="3291840"/>
            <a:ext cx="19202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happy/surprised → Happy</a:t>
            </a:r>
            <a:br/>
            <a:r>
              <a:t>neutral → Study</a:t>
            </a:r>
            <a:br/>
            <a:r>
              <a:t>angry/disgusted → Rock</a:t>
            </a:r>
            <a:br/>
            <a:r>
              <a:t>sad → Sad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9 / 17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00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alibri"/>
              </a:defRPr>
            </a:pPr>
            <a:r>
              <a:t>🎵 MoodBeats — AI-Powered Music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👁️  Computer Vision &amp; DeepFace Algorithms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394960" cy="5029200"/>
          </a:xfrm>
          <a:prstGeom prst="roundRect">
            <a:avLst/>
          </a:prstGeom>
          <a:solidFill>
            <a:srgbClr val="121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8B5CF6"/>
                </a:solidFill>
                <a:latin typeface="Calibri"/>
              </a:defRPr>
            </a:pPr>
            <a:r>
              <a:t>🌐  face-api.js (Client-Side)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 Built on TensorFlow.js — runs entirely in browser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70048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 Tiny Face Detector: SSD-based lightweight CNN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45536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 68-point facial landmark detection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621024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 7 expression classifiers with confidence scores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096512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 No video data sent to server — privacy by 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5720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 Models loaded from CDN (~3MB total)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047488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 Web Worker offloading for 60fps UI thread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522976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 Handles multiple faces in single frame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371600"/>
            <a:ext cx="5394960" cy="5029200"/>
          </a:xfrm>
          <a:prstGeom prst="roundRect">
            <a:avLst/>
          </a:prstGeom>
          <a:solidFill>
            <a:srgbClr val="121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5544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2D3EE"/>
                </a:solidFill>
                <a:latin typeface="Calibri"/>
              </a:defRPr>
            </a:pPr>
            <a:r>
              <a:t>🧪  DeepFace (Backend Verification)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1945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 Python library wrapping state-of-art models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670048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 Supports: VGG-Face, FaceNet, OpenFace, ArcFace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145536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 Emotion analysis: 7 discrete expressions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621024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 Age, gender, race attribute estimation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096512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 Used for backend model validation &amp; testing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5720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 Higher accuracy than browser-based inference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5047488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 Requires server-side GPU for real-time use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5522976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 Benchmark baseline for face-api.js accuracy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10 / 17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00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alibri"/>
              </a:defRPr>
            </a:pPr>
            <a:r>
              <a:t>🎵 MoodBeats — AI-Powered Music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📸  OpenCV &amp; DeepFace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Calibri"/>
              </a:defRPr>
            </a:pPr>
            <a:r>
              <a:t>How we process webcam streams and extract emotions using the backend pipeline.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920240"/>
            <a:ext cx="3474720" cy="4114800"/>
          </a:xfrm>
          <a:prstGeom prst="roundRect">
            <a:avLst/>
          </a:prstGeom>
          <a:solidFill>
            <a:srgbClr val="121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2D3EE"/>
                </a:solidFill>
                <a:latin typeface="Calibri"/>
              </a:defRPr>
            </a:pPr>
            <a:r>
              <a:t>1. Frame Capture (OpenCV)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▸  cv2.VideoCapture() grabs frames from native webcam.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7472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▸  Image preprocessing: resizing, grayscaling, and normalization.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20624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▸  Haar Cascades / DNN models localize facial bounding boxes.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93776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▸  Filters out bad lighting or motion blur frame-by-frame.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0" y="1920240"/>
            <a:ext cx="3474720" cy="4114800"/>
          </a:xfrm>
          <a:prstGeom prst="roundRect">
            <a:avLst/>
          </a:prstGeom>
          <a:solidFill>
            <a:srgbClr val="121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21031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472B6"/>
                </a:solidFill>
                <a:latin typeface="Calibri"/>
              </a:defRPr>
            </a:pPr>
            <a:r>
              <a:t>2. Emotion Extraction (DeepFace)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74320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▸  Cropped faces are passed directly to DeepFace.analyze().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347472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▸  Enforce_detection=False allows processing even of partial faces.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420624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▸  Extracts 'dominant_emotion' (e.g. happy, neutral, angry).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493776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▸  Generates confidence matrices for the 7 emotion categories.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1920240"/>
            <a:ext cx="3931920" cy="4114800"/>
          </a:xfrm>
          <a:prstGeom prst="roundRect">
            <a:avLst/>
          </a:prstGeom>
          <a:solidFill>
            <a:srgbClr val="121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0" y="21031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700"/>
                </a:solidFill>
                <a:latin typeface="Calibri"/>
              </a:defRPr>
            </a:pPr>
            <a:r>
              <a:t>3. Project Integration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74320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▸  Emotion logs map to MoodBeats system moods.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347472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▸  A continuous buffer smooths out temporary misclassifications.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420624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▸  FastAPI endpoints receive the payload and trigger music generation.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493776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▸  Docker handles OpenCV system dependencies gracefully.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11 / 17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00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alibri"/>
              </a:defRPr>
            </a:pPr>
            <a:r>
              <a:t>🎵 MoodBeats — AI-Powered Music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🎯  The Hybrid Recommendation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11247120" cy="914400"/>
          </a:xfrm>
          <a:prstGeom prst="roundRect">
            <a:avLst/>
          </a:prstGeom>
          <a:solidFill>
            <a:srgbClr val="1A1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2D3EE"/>
                </a:solidFill>
                <a:latin typeface="Calibri"/>
              </a:defRPr>
            </a:pPr>
            <a:r>
              <a:t>final_score  =  0.40 × mood_match  +  0.25 × user_similarity  +  0.20 × popularity  +  0.15 × freshness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2560320"/>
            <a:ext cx="2651760" cy="3657600"/>
          </a:xfrm>
          <a:prstGeom prst="roundRect">
            <a:avLst/>
          </a:prstGeom>
          <a:solidFill>
            <a:srgbClr val="121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2560320"/>
            <a:ext cx="2651760" cy="457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27432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D700"/>
                </a:solidFill>
                <a:latin typeface="Calibri"/>
              </a:defRPr>
            </a:pPr>
            <a:r>
              <a:t>Mood Match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32004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α = 0.40 (40%)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657600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Compares song audio features</a:t>
            </a:r>
            <a:br/>
            <a:r>
              <a:t>(valence, energy, danceability)</a:t>
            </a:r>
            <a:br/>
            <a:r>
              <a:t>against mood profile vectors.</a:t>
            </a:r>
            <a:br/>
            <a:r>
              <a:t>score = 1.0 − diff/3.0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0" y="2560320"/>
            <a:ext cx="2651760" cy="3657600"/>
          </a:xfrm>
          <a:prstGeom prst="roundRect">
            <a:avLst/>
          </a:prstGeom>
          <a:solidFill>
            <a:srgbClr val="121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0" y="2560320"/>
            <a:ext cx="265176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37560" y="27432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8B5CF6"/>
                </a:solidFill>
                <a:latin typeface="Calibri"/>
              </a:defRPr>
            </a:pPr>
            <a:r>
              <a:t>User Similarity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32004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β = 0.25 (25%)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3657600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Genre overlap between song</a:t>
            </a:r>
            <a:br/>
            <a:r>
              <a:t>and user's liked/played history.</a:t>
            </a:r>
            <a:br/>
            <a:r>
              <a:t>Learns preferences from</a:t>
            </a:r>
            <a:br/>
            <a:r>
              <a:t>past interactions.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2560320"/>
            <a:ext cx="2651760" cy="3657600"/>
          </a:xfrm>
          <a:prstGeom prst="roundRect">
            <a:avLst/>
          </a:prstGeom>
          <a:solidFill>
            <a:srgbClr val="121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0" y="2560320"/>
            <a:ext cx="2651760" cy="457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27432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2D3EE"/>
                </a:solidFill>
                <a:latin typeface="Calibri"/>
              </a:defRPr>
            </a:pPr>
            <a:r>
              <a:t>Popularity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32004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γ = 0.20 (20%)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3657600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Global popularity normalized</a:t>
            </a:r>
            <a:br/>
            <a:r>
              <a:t>to 0–1 range. Ensures a mix</a:t>
            </a:r>
            <a:br/>
            <a:r>
              <a:t>of hits and undiscovered</a:t>
            </a:r>
            <a:br/>
            <a:r>
              <a:t>tracks in results.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52560" y="2560320"/>
            <a:ext cx="2651760" cy="3657600"/>
          </a:xfrm>
          <a:prstGeom prst="roundRect">
            <a:avLst/>
          </a:prstGeom>
          <a:solidFill>
            <a:srgbClr val="121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52560" y="2560320"/>
            <a:ext cx="2651760" cy="4572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9720" y="27432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472B6"/>
                </a:solidFill>
                <a:latin typeface="Calibri"/>
              </a:defRPr>
            </a:pPr>
            <a:r>
              <a:t>Freshness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9720" y="32004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δ = 0.15 (15%)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9720" y="3657600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Exponential time decay.</a:t>
            </a:r>
            <a:br/>
            <a:r>
              <a:t>Half-life ≈ 2 years.</a:t>
            </a:r>
            <a:br/>
            <a:r>
              <a:t>Newer releases score higher.</a:t>
            </a:r>
            <a:br/>
            <a:r>
              <a:t>score = e^(−days/730)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12 / 17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00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alibri"/>
              </a:defRPr>
            </a:pPr>
            <a:r>
              <a:t>🎵 MoodBeats — AI-Powered Music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🔥  Machine Learning with PyTorch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Calibri"/>
              </a:defRPr>
            </a:pPr>
            <a:r>
              <a:t>The HybridRecommender neural network learns optimal scoring from user interaction data.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828800"/>
            <a:ext cx="2651760" cy="2926080"/>
          </a:xfrm>
          <a:prstGeom prst="roundRect">
            <a:avLst/>
          </a:prstGeom>
          <a:solidFill>
            <a:srgbClr val="121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828800"/>
            <a:ext cx="2651760" cy="457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20116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D700"/>
                </a:solidFill>
                <a:latin typeface="Calibri"/>
              </a:defRPr>
            </a:pPr>
            <a:r>
              <a:t>Mood Embedding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560320"/>
            <a:ext cx="2377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Calibri"/>
              </a:defRPr>
            </a:pPr>
            <a:r>
              <a:t>nn.Embedding layer</a:t>
            </a:r>
            <a:br/>
            <a:r>
              <a:t>5 moods → 64-dim vectors</a:t>
            </a:r>
            <a:br/>
            <a:r>
              <a:t>Learnable representations</a:t>
            </a:r>
            <a:br/>
            <a:r>
              <a:t>Captures mood semantics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1828800"/>
            <a:ext cx="2651760" cy="2926080"/>
          </a:xfrm>
          <a:prstGeom prst="roundRect">
            <a:avLst/>
          </a:prstGeom>
          <a:solidFill>
            <a:srgbClr val="121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0" y="1828800"/>
            <a:ext cx="265176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20116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8B5CF6"/>
                </a:solidFill>
                <a:latin typeface="Calibri"/>
              </a:defRPr>
            </a:pPr>
            <a:r>
              <a:t>Song Encoder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2560320"/>
            <a:ext cx="2377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Calibri"/>
              </a:defRPr>
            </a:pPr>
            <a:r>
              <a:t>3-layer MLP</a:t>
            </a:r>
            <a:br/>
            <a:r>
              <a:t>6 audio features → 64-dim</a:t>
            </a:r>
            <a:br/>
            <a:r>
              <a:t>valence, energy, danceability</a:t>
            </a:r>
            <a:br/>
            <a:r>
              <a:t>tempo, acousticness, instr.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828800"/>
            <a:ext cx="2651760" cy="2926080"/>
          </a:xfrm>
          <a:prstGeom prst="roundRect">
            <a:avLst/>
          </a:prstGeom>
          <a:solidFill>
            <a:srgbClr val="121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1828800"/>
            <a:ext cx="2651760" cy="457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20116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2D3EE"/>
                </a:solidFill>
                <a:latin typeface="Calibri"/>
              </a:defRPr>
            </a:pPr>
            <a:r>
              <a:t>User Encoder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560320"/>
            <a:ext cx="2377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Calibri"/>
              </a:defRPr>
            </a:pPr>
            <a:r>
              <a:t>2-layer Transformer</a:t>
            </a:r>
            <a:br/>
            <a:r>
              <a:t>Processes interaction sequence</a:t>
            </a:r>
            <a:br/>
            <a:r>
              <a:t>Learns temporal patterns</a:t>
            </a:r>
            <a:br/>
            <a:r>
              <a:t>→ 64-dim user preference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52560" y="1828800"/>
            <a:ext cx="2651760" cy="2926080"/>
          </a:xfrm>
          <a:prstGeom prst="roundRect">
            <a:avLst/>
          </a:prstGeom>
          <a:solidFill>
            <a:srgbClr val="121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52560" y="1828800"/>
            <a:ext cx="2651760" cy="4572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9720" y="20116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472B6"/>
                </a:solidFill>
                <a:latin typeface="Calibri"/>
              </a:defRPr>
            </a:pPr>
            <a:r>
              <a:t>Scorer MLP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9720" y="2560320"/>
            <a:ext cx="2377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Calibri"/>
              </a:defRPr>
            </a:pPr>
            <a:r>
              <a:t>Concatenate [192-dim]</a:t>
            </a:r>
            <a:br/>
            <a:r>
              <a:t>→ 128 → 64 → 1</a:t>
            </a:r>
            <a:br/>
            <a:r>
              <a:t>Neural score + heuristic</a:t>
            </a:r>
            <a:br/>
            <a:r>
              <a:t>final = 0.5·neural + 0.5·h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5029200"/>
            <a:ext cx="11247120" cy="1371600"/>
          </a:xfrm>
          <a:prstGeom prst="roundRect">
            <a:avLst/>
          </a:prstGeom>
          <a:solidFill>
            <a:srgbClr val="1A1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120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472B6"/>
                </a:solidFill>
                <a:latin typeface="Calibri"/>
              </a:defRPr>
            </a:pPr>
            <a:r>
              <a:t>Training Method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48640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BPR (Bayesian Personalized Ranking)</a:t>
            </a:r>
            <a:br/>
            <a:r>
              <a:t>Liked songs must score &gt; unliked</a:t>
            </a:r>
            <a:br/>
            <a:r>
              <a:t>Implicit feedback learning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5120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D3EE"/>
                </a:solidFill>
                <a:latin typeface="Calibri"/>
              </a:defRPr>
            </a:pPr>
            <a:r>
              <a:t>Evaluation Metrics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548640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Recall@K — Did liked songs appear?</a:t>
            </a:r>
            <a:br/>
            <a:r>
              <a:t>NDCG@K — Are they ranked near top?</a:t>
            </a:r>
            <a:br/>
            <a:r>
              <a:t>A/B testing vs heuristic baseline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5120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5CF6"/>
                </a:solidFill>
                <a:latin typeface="Calibri"/>
              </a:defRPr>
            </a:pPr>
            <a:r>
              <a:t>Learned Parameters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548640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α, β, γ, δ are nn.Parameters</a:t>
            </a:r>
            <a:br/>
            <a:r>
              <a:t>Weights learned from data</a:t>
            </a:r>
            <a:br/>
            <a:r>
              <a:t>Not hand-tuned constants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13 / 17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6400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alibri"/>
              </a:defRPr>
            </a:pPr>
            <a:r>
              <a:t>🎵 MoodBeats — AI-Powered Music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⚡  FAISS Vector Search for Fast Retrieval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Calibri"/>
              </a:defRPr>
            </a:pPr>
            <a:r>
              <a:t>Facebook AI Similarity Search — sub-millisecond approximate nearest neighbor on 100K+ songs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920240"/>
            <a:ext cx="5394960" cy="4114800"/>
          </a:xfrm>
          <a:prstGeom prst="roundRect">
            <a:avLst/>
          </a:prstGeom>
          <a:solidFill>
            <a:srgbClr val="121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2D3EE"/>
                </a:solidFill>
                <a:latin typeface="Calibri"/>
              </a:defRPr>
            </a:pPr>
            <a:r>
              <a:t>Stage 1: FAISS Retrieval (Fast)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 Input: mood_embedding (64-dim vector)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461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 Search: IndexFlatIP (cosine after L2-norm)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49039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 Output: Top 200 candidate song IDs + scores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2519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 Speed: &lt; 1ms for 100K songs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7548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 L2-normalized embeddings → inner product = cosine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2578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 Songs pre-encoded via SongEncoder MLP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920240"/>
            <a:ext cx="5394960" cy="4114800"/>
          </a:xfrm>
          <a:prstGeom prst="roundRect">
            <a:avLst/>
          </a:prstGeom>
          <a:solidFill>
            <a:srgbClr val="121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1031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472B6"/>
                </a:solidFill>
                <a:latin typeface="Calibri"/>
              </a:defRPr>
            </a:pPr>
            <a:r>
              <a:t>Stage 2: Full Model Re-Ranking (Accurate)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7432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 Input: 200 candidates + user history + mood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2461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 Scoring: Complete hybrid formula applied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749039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 Output: Top 20 songs with final scores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2519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 Speed: ~50ms per request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7548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 Combines FAISS score + heuristic scores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52578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 Diversity filter prevents genre monotony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14 / 17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00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alibri"/>
              </a:defRPr>
            </a:pPr>
            <a:r>
              <a:t>🎵 MoodBeats — AI-Powered Music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🔄  How Recommendations Work Right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99999"/>
                </a:solidFill>
                <a:latin typeface="Calibri"/>
              </a:defRPr>
            </a:pPr>
            <a:r>
              <a:t>A live request for mood='happy' — step-by-step through the current working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1691640"/>
            <a:ext cx="1783080" cy="4114800"/>
          </a:xfrm>
          <a:prstGeom prst="roundRect">
            <a:avLst/>
          </a:prstGeom>
          <a:solidFill>
            <a:srgbClr val="121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691640"/>
            <a:ext cx="178308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87552" y="1783080"/>
            <a:ext cx="384048" cy="38404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810512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" y="228600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8B5CF6"/>
                </a:solidFill>
                <a:latin typeface="Calibri"/>
              </a:defRPr>
            </a:pPr>
            <a:r>
              <a:t>Mood</a:t>
            </a:r>
            <a:br/>
            <a:r>
              <a:t>Capture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" y="2852928"/>
            <a:ext cx="16459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Camera detects</a:t>
            </a:r>
            <a:br/>
            <a:r>
              <a:t>expression OR user</a:t>
            </a:r>
            <a:br/>
            <a:r>
              <a:t>clicks a mood pill.</a:t>
            </a:r>
            <a:br/>
            <a:r>
              <a:t>Confidence logged.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86000" y="1691640"/>
            <a:ext cx="1783080" cy="4114800"/>
          </a:xfrm>
          <a:prstGeom prst="roundRect">
            <a:avLst/>
          </a:prstGeom>
          <a:solidFill>
            <a:srgbClr val="121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86000" y="1691640"/>
            <a:ext cx="1783080" cy="36576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953512" y="1783080"/>
            <a:ext cx="384048" cy="384048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53512" y="1810512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59152" y="228600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2D3EE"/>
                </a:solidFill>
                <a:latin typeface="Calibri"/>
              </a:defRPr>
            </a:pPr>
            <a:r>
              <a:t>POST</a:t>
            </a:r>
            <a:br/>
            <a:r>
              <a:t>/moods/select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59152" y="2852928"/>
            <a:ext cx="16459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Mood + source +</a:t>
            </a:r>
            <a:br/>
            <a:r>
              <a:t>confidence → FastAPI.</a:t>
            </a:r>
            <a:br/>
            <a:r>
              <a:t>Inserted into</a:t>
            </a:r>
            <a:br/>
            <a:r>
              <a:t>mood_history table.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51959" y="1691640"/>
            <a:ext cx="1783080" cy="4114800"/>
          </a:xfrm>
          <a:prstGeom prst="roundRect">
            <a:avLst/>
          </a:prstGeom>
          <a:solidFill>
            <a:srgbClr val="121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51959" y="1691640"/>
            <a:ext cx="1783080" cy="36576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919471" y="1783080"/>
            <a:ext cx="384048" cy="384048"/>
          </a:xfrm>
          <a:prstGeom prst="ellipse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19471" y="1810512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25111" y="228600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472B6"/>
                </a:solidFill>
                <a:latin typeface="Calibri"/>
              </a:defRPr>
            </a:pPr>
            <a:r>
              <a:t>GET</a:t>
            </a:r>
            <a:br/>
            <a:r>
              <a:t>/recommendations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25111" y="2852928"/>
            <a:ext cx="16459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mood=happy&amp;limit=20</a:t>
            </a:r>
            <a:br/>
            <a:r>
              <a:t>Triggered immediately.</a:t>
            </a:r>
            <a:br/>
            <a:r>
              <a:t>FastAPI fetches all</a:t>
            </a:r>
            <a:br/>
            <a:r>
              <a:t>songs from PostgreSQL.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19" y="1691640"/>
            <a:ext cx="1783080" cy="4114800"/>
          </a:xfrm>
          <a:prstGeom prst="roundRect">
            <a:avLst/>
          </a:prstGeom>
          <a:solidFill>
            <a:srgbClr val="121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19" y="1691640"/>
            <a:ext cx="1783080" cy="3657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885431" y="1783080"/>
            <a:ext cx="384048" cy="384048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85431" y="1810512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91071" y="228600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D700"/>
                </a:solidFill>
                <a:latin typeface="Calibri"/>
              </a:defRPr>
            </a:pPr>
            <a:r>
              <a:t>Score Every</a:t>
            </a:r>
            <a:br/>
            <a:r>
              <a:t>Song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91071" y="2852928"/>
            <a:ext cx="16459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For each song:</a:t>
            </a:r>
            <a:br/>
            <a:r>
              <a:t>0.40×mood_match</a:t>
            </a:r>
            <a:br/>
            <a:r>
              <a:t>+0.25×user_sim</a:t>
            </a:r>
            <a:br/>
            <a:r>
              <a:t>+0.20×pop+0.15×fresh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83879" y="1691640"/>
            <a:ext cx="1783080" cy="4114800"/>
          </a:xfrm>
          <a:prstGeom prst="roundRect">
            <a:avLst/>
          </a:prstGeom>
          <a:solidFill>
            <a:srgbClr val="121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83879" y="1691640"/>
            <a:ext cx="1783080" cy="36576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851391" y="1783080"/>
            <a:ext cx="384048" cy="384048"/>
          </a:xfrm>
          <a:prstGeom prst="ellipse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51391" y="1810512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57031" y="228600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9333EA"/>
                </a:solidFill>
                <a:latin typeface="Calibri"/>
              </a:defRPr>
            </a:pPr>
            <a:r>
              <a:t>Rank &amp;</a:t>
            </a:r>
            <a:br/>
            <a:r>
              <a:t>Filter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57031" y="2852928"/>
            <a:ext cx="16459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Sort descending by</a:t>
            </a:r>
            <a:br/>
            <a:r>
              <a:t>final_score. +30%</a:t>
            </a:r>
            <a:br/>
            <a:r>
              <a:t>bonus if song.mood_tag</a:t>
            </a:r>
            <a:br/>
            <a:r>
              <a:t>matches exact mood.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149840" y="1691640"/>
            <a:ext cx="1783080" cy="4114800"/>
          </a:xfrm>
          <a:prstGeom prst="roundRect">
            <a:avLst/>
          </a:prstGeom>
          <a:solidFill>
            <a:srgbClr val="121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149840" y="1691640"/>
            <a:ext cx="1783080" cy="36576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817352" y="1783080"/>
            <a:ext cx="384048" cy="384048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817352" y="1810512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22992" y="228600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E8B57"/>
                </a:solidFill>
                <a:latin typeface="Calibri"/>
              </a:defRPr>
            </a:pPr>
            <a:r>
              <a:t>Play &amp;</a:t>
            </a:r>
            <a:br/>
            <a:r>
              <a:t>Log Feedback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22992" y="2852928"/>
            <a:ext cx="16459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Top 20 returned to</a:t>
            </a:r>
            <a:br/>
            <a:r>
              <a:t>UI. Every play/skip/</a:t>
            </a:r>
            <a:br/>
            <a:r>
              <a:t>like logged → improves</a:t>
            </a:r>
            <a:br/>
            <a:r>
              <a:t>next recommendation.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5669280"/>
            <a:ext cx="11247120" cy="914400"/>
          </a:xfrm>
          <a:prstGeom prst="roundRect">
            <a:avLst/>
          </a:prstGeom>
          <a:solidFill>
            <a:srgbClr val="101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20" y="574243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700"/>
                </a:solidFill>
                <a:latin typeface="Calibri"/>
              </a:defRPr>
            </a:pPr>
            <a:r>
              <a:t>Live Interaction Signals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" y="60807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D700"/>
                </a:solidFill>
                <a:latin typeface="Calibri"/>
              </a:defRPr>
            </a:pPr>
            <a:r>
              <a:t>❤️ Like = 3.0×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74720" y="60807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8B5CF6"/>
                </a:solidFill>
                <a:latin typeface="Calibri"/>
              </a:defRPr>
            </a:pPr>
            <a:r>
              <a:t>💾 Save = 2.0×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7920" y="60807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2D3EE"/>
                </a:solidFill>
                <a:latin typeface="Calibri"/>
              </a:defRPr>
            </a:pPr>
            <a:r>
              <a:t>▶️ Play = 1.0×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961120" y="60807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472B6"/>
                </a:solidFill>
                <a:latin typeface="Calibri"/>
              </a:defRPr>
            </a:pPr>
            <a:r>
              <a:t>⏭️ Skip = −0.5×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15 / 17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5760" y="6400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alibri"/>
              </a:defRPr>
            </a:pPr>
            <a:r>
              <a:t>🎵 MoodBeats — AI-Powered Music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🎼  Song Features &amp; Mood Profiles — What the Scoring Uses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Calibri"/>
              </a:defRPr>
            </a:pPr>
            <a:r>
              <a:t>Every song in the database has 6 audio feature fields. The recommendation engine reads these values every request.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4846320" cy="4846320"/>
          </a:xfrm>
          <a:prstGeom prst="roundRect">
            <a:avLst/>
          </a:prstGeom>
          <a:solidFill>
            <a:srgbClr val="121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B5CF6"/>
                </a:solidFill>
                <a:latin typeface="Calibri"/>
              </a:defRPr>
            </a:pPr>
            <a:r>
              <a:t>📦 The 6 Audio Features (per song)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231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2D3EE"/>
                </a:solidFill>
                <a:latin typeface="Calibri"/>
              </a:defRPr>
            </a:pPr>
            <a:r>
              <a:t>valence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242316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D700"/>
                </a:solidFill>
                <a:latin typeface="Calibri"/>
              </a:defRPr>
            </a:pPr>
            <a:r>
              <a:t>0.0–1.0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24912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Musical positivity. High = cheerful, low = dark/melancholic.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08152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2D3EE"/>
                </a:solidFill>
                <a:latin typeface="Calibri"/>
              </a:defRPr>
            </a:pPr>
            <a:r>
              <a:t>energy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308152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D700"/>
                </a:solidFill>
                <a:latin typeface="Calibri"/>
              </a:defRPr>
            </a:pPr>
            <a:r>
              <a:t>0.0–1.0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38328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Intensity &amp; activity. High = fast/loud, low = calm/soft.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739896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2D3EE"/>
                </a:solidFill>
                <a:latin typeface="Calibri"/>
              </a:defRPr>
            </a:pPr>
            <a:r>
              <a:t>danceability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739896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D700"/>
                </a:solidFill>
                <a:latin typeface="Calibri"/>
              </a:defRPr>
            </a:pPr>
            <a:r>
              <a:t>0.0–1.0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041648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Beat stability &amp; rhythm. High = easy to dance to.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398264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2D3EE"/>
                </a:solidFill>
                <a:latin typeface="Calibri"/>
              </a:defRPr>
            </a:pPr>
            <a:r>
              <a:t>tempo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4398264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D700"/>
                </a:solidFill>
                <a:latin typeface="Calibri"/>
              </a:defRPr>
            </a:pPr>
            <a:r>
              <a:t>BPM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700016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Speed in beats-per-minute, normalised ÷ 200 in model.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056631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2D3EE"/>
                </a:solidFill>
                <a:latin typeface="Calibri"/>
              </a:defRPr>
            </a:pPr>
            <a:r>
              <a:t>acousticness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80" y="5056631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D700"/>
                </a:solidFill>
                <a:latin typeface="Calibri"/>
              </a:defRPr>
            </a:pPr>
            <a:r>
              <a:t>0.0–1.0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358383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Confidence the track is acoustic (no electronic production).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7150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2D3EE"/>
                </a:solidFill>
                <a:latin typeface="Calibri"/>
              </a:defRPr>
            </a:pPr>
            <a:r>
              <a:t>instrumentalness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68880" y="57150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D700"/>
                </a:solidFill>
                <a:latin typeface="Calibri"/>
              </a:defRPr>
            </a:pPr>
            <a:r>
              <a:t>0.0–1.0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016752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Predicts absence of vocals. &gt;0.5 = likely instrumental.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577840" y="1645920"/>
            <a:ext cx="6126480" cy="4846320"/>
          </a:xfrm>
          <a:prstGeom prst="roundRect">
            <a:avLst/>
          </a:prstGeom>
          <a:solidFill>
            <a:srgbClr val="121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52160" y="182880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9333EA"/>
                </a:solidFill>
                <a:latin typeface="Calibri"/>
              </a:defRPr>
            </a:pPr>
            <a:r>
              <a:t>🎯 Hardcoded Mood Profiles (Target Values)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52160" y="23317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5CF6"/>
                </a:solidFill>
                <a:latin typeface="Calibri"/>
              </a:defRPr>
            </a:pPr>
            <a:r>
              <a:t>Mood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23317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5CF6"/>
                </a:solidFill>
                <a:latin typeface="Calibri"/>
              </a:defRPr>
            </a:pPr>
            <a:r>
              <a:t>valence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23317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5CF6"/>
                </a:solidFill>
                <a:latin typeface="Calibri"/>
              </a:defRPr>
            </a:pPr>
            <a:r>
              <a:t>energy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0" y="233172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5CF6"/>
                </a:solidFill>
                <a:latin typeface="Calibri"/>
              </a:defRPr>
            </a:pPr>
            <a:r>
              <a:t>danceability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52160" y="274320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700"/>
                </a:solidFill>
                <a:latin typeface="Calibri"/>
              </a:defRPr>
            </a:pPr>
            <a:r>
              <a:t>😊 happy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274320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0.80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8160" y="274320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0.70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6880" y="274320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0.75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52160" y="338328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169E1"/>
                </a:solidFill>
                <a:latin typeface="Calibri"/>
              </a:defRPr>
            </a:pPr>
            <a:r>
              <a:t>😢 sad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0" y="338328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0.20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38160" y="338328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0.30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0" y="338328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0.30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52160" y="402336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4500"/>
                </a:solidFill>
                <a:latin typeface="Calibri"/>
              </a:defRPr>
            </a:pPr>
            <a:r>
              <a:t>💪 gym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49440" y="402336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0.60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38160" y="402336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0.95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26880" y="402336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0.80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52160" y="466344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8B57"/>
                </a:solidFill>
                <a:latin typeface="Calibri"/>
              </a:defRPr>
            </a:pPr>
            <a:r>
              <a:t>📚 study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49440" y="466344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0.40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38160" y="466344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0.20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0" y="466344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0.20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52160" y="530352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C143C"/>
                </a:solidFill>
                <a:latin typeface="Calibri"/>
              </a:defRPr>
            </a:pPr>
            <a:r>
              <a:t>🎸 rock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49440" y="530352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0.50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38160" y="530352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0.85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326880" y="530352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0.60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577840" y="5943600"/>
            <a:ext cx="6126480" cy="640080"/>
          </a:xfrm>
          <a:prstGeom prst="roundRect">
            <a:avLst/>
          </a:prstGeom>
          <a:solidFill>
            <a:srgbClr val="140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852160" y="6016752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D3EE"/>
                </a:solidFill>
                <a:latin typeface="Calibri"/>
              </a:defRPr>
            </a:pPr>
            <a:r>
              <a:t>score = 1.0 − (|Δvalence| + |Δenergy| + |Δdanceability|) ÷ 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16 / 17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5760" y="6400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alibri"/>
              </a:defRPr>
            </a:pPr>
            <a:r>
              <a:t>🎵 MoodBeats — AI-Powered Music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🏁  What We've Actually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99999"/>
                </a:solidFill>
                <a:latin typeface="Calibri"/>
              </a:defRPr>
            </a:pPr>
            <a:r>
              <a:t>Every item below is working right now in the repository.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691640"/>
            <a:ext cx="5623560" cy="1097280"/>
          </a:xfrm>
          <a:prstGeom prst="roundRect">
            <a:avLst/>
          </a:prstGeom>
          <a:solidFill>
            <a:srgbClr val="121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691640"/>
            <a:ext cx="562356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8B5CF6"/>
                </a:solidFill>
                <a:latin typeface="Calibri"/>
              </a:defRPr>
            </a:pPr>
            <a:r>
              <a:t>📷  In-Browser Emotion Detection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67128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face-api.js runs a full CNN on your webcam frame in-browser.</a:t>
            </a:r>
            <a:br/>
            <a:r>
              <a:t>No data leaves the device. 7 expressions → mood in &lt; 100ms.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691640"/>
            <a:ext cx="5623560" cy="1097280"/>
          </a:xfrm>
          <a:prstGeom prst="roundRect">
            <a:avLst/>
          </a:prstGeom>
          <a:solidFill>
            <a:srgbClr val="121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691640"/>
            <a:ext cx="5623560" cy="36576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830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2D3EE"/>
                </a:solidFill>
                <a:latin typeface="Calibri"/>
              </a:defRPr>
            </a:pPr>
            <a:r>
              <a:t>🎯  4-Signal Hybrid Scoring (Live)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167128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recommendation_service.py scores every song in PostgreSQL:</a:t>
            </a:r>
            <a:br/>
            <a:r>
              <a:t>0.40×mood_match + 0.25×user_sim + 0.20×popularity + 0.15×freshness.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2926080"/>
            <a:ext cx="5623560" cy="1097280"/>
          </a:xfrm>
          <a:prstGeom prst="roundRect">
            <a:avLst/>
          </a:prstGeom>
          <a:solidFill>
            <a:srgbClr val="121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2926080"/>
            <a:ext cx="5623560" cy="36576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01752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E8B57"/>
                </a:solidFill>
                <a:latin typeface="Calibri"/>
              </a:defRPr>
            </a:pPr>
            <a:r>
              <a:t>🗄️  Full Data Model (Deployed)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401568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4 tables live: users, songs (200+ seeded), interactions, mood_history.</a:t>
            </a:r>
            <a:br/>
            <a:r>
              <a:t>Every play/skip/like written instantly — feeds next recommendation.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926080"/>
            <a:ext cx="5623560" cy="1097280"/>
          </a:xfrm>
          <a:prstGeom prst="roundRect">
            <a:avLst/>
          </a:prstGeom>
          <a:solidFill>
            <a:srgbClr val="121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2926080"/>
            <a:ext cx="5623560" cy="36576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301752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472B6"/>
                </a:solidFill>
                <a:latin typeface="Calibri"/>
              </a:defRPr>
            </a:pPr>
            <a:r>
              <a:t>▶️  YouTube Playback + Search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401568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YouTube Data API v3 integrated. Searches by mood+sub-mood query.</a:t>
            </a:r>
            <a:br/>
            <a:r>
              <a:t>Embedded IFrame player with fallback to native HTML5 audio.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4160520"/>
            <a:ext cx="5623560" cy="1097280"/>
          </a:xfrm>
          <a:prstGeom prst="roundRect">
            <a:avLst/>
          </a:prstGeom>
          <a:solidFill>
            <a:srgbClr val="121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4160520"/>
            <a:ext cx="5623560" cy="3657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25196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D700"/>
                </a:solidFill>
                <a:latin typeface="Calibri"/>
              </a:defRPr>
            </a:pPr>
            <a:r>
              <a:t>🧠  PyTorch HybridRecommender (Code Complete)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636008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MoodEmbedding + SongEncoder MLP + 2-layer Transformer UserEncoder.</a:t>
            </a:r>
            <a:br/>
            <a:r>
              <a:t>BPR loss trainer written. Ready to train once interaction data grows.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4160520"/>
            <a:ext cx="5623560" cy="1097280"/>
          </a:xfrm>
          <a:prstGeom prst="roundRect">
            <a:avLst/>
          </a:prstGeom>
          <a:solidFill>
            <a:srgbClr val="121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09360" y="4160520"/>
            <a:ext cx="5623560" cy="36576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425196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9333EA"/>
                </a:solidFill>
                <a:latin typeface="Calibri"/>
              </a:defRPr>
            </a:pPr>
            <a:r>
              <a:t>⚡  FAISS Vector Index (Module Ready)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4636008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faiss_index.py: IndexFlatIP with L2-normalised embeddings.</a:t>
            </a:r>
            <a:br/>
            <a:r>
              <a:t>Two-stage retrieval: &lt; 1ms FAISS → ~50ms full scoring.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5760" y="5394960"/>
            <a:ext cx="5623560" cy="1097280"/>
          </a:xfrm>
          <a:prstGeom prst="roundRect">
            <a:avLst/>
          </a:prstGeom>
          <a:solidFill>
            <a:srgbClr val="121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65760" y="5394960"/>
            <a:ext cx="5623560" cy="36576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548640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472B6"/>
                </a:solidFill>
                <a:latin typeface="Calibri"/>
              </a:defRPr>
            </a:pPr>
            <a:r>
              <a:t>🎨  Premium Dark UI (Shipped)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870448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Next.js 14 + Tailwind + Framer Motion. Glassmorphism cards.</a:t>
            </a:r>
            <a:br/>
            <a:r>
              <a:t>Mood-adaptive GLSL shader backgrounds. Cinema-mode player.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09360" y="5394960"/>
            <a:ext cx="5623560" cy="1097280"/>
          </a:xfrm>
          <a:prstGeom prst="roundRect">
            <a:avLst/>
          </a:prstGeom>
          <a:solidFill>
            <a:srgbClr val="121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309360" y="5394960"/>
            <a:ext cx="5623560" cy="36576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2240" y="548640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DC143C"/>
                </a:solidFill>
                <a:latin typeface="Calibri"/>
              </a:defRPr>
            </a:pPr>
            <a:r>
              <a:t>🔐  Auth + Docker Stack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5870448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Clerk OAuth + JWT FastAPI auth live. docker-compose brings up</a:t>
            </a:r>
            <a:br/>
            <a:r>
              <a:t>PostgreSQL + Redis + FastAPI backend in one command.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17 / 17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6400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alibri"/>
              </a:defRPr>
            </a:pPr>
            <a:r>
              <a:t>🎵 MoodBeats — AI-Powered Music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0" y="2743200"/>
            <a:ext cx="5486400" cy="5486400"/>
          </a:xfrm>
          <a:prstGeom prst="ellipse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0" y="-914400"/>
            <a:ext cx="6400800" cy="6400800"/>
          </a:xfrm>
          <a:prstGeom prst="ellipse">
            <a:avLst/>
          </a:prstGeom>
          <a:solidFill>
            <a:srgbClr val="0F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Calibri"/>
              </a:defRPr>
            </a:pPr>
            <a:r>
              <a:t>Thank You! 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8B5CF6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3383280"/>
            <a:ext cx="2103120" cy="27432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743200" y="3840480"/>
            <a:ext cx="6675120" cy="2011680"/>
          </a:xfrm>
          <a:prstGeom prst="roundRect">
            <a:avLst/>
          </a:prstGeom>
          <a:solidFill>
            <a:srgbClr val="121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20" y="4023360"/>
            <a:ext cx="6126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99"/>
                </a:solidFill>
                <a:latin typeface="Calibri"/>
              </a:defRPr>
            </a:pPr>
            <a:r>
              <a:t>Created by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4480560"/>
            <a:ext cx="6126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2D3EE"/>
                </a:solidFill>
                <a:latin typeface="Calibri"/>
              </a:defRPr>
            </a:pPr>
            <a:r>
              <a:t>Chintan Kumar Jana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4937760"/>
            <a:ext cx="6126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472B6"/>
                </a:solidFill>
                <a:latin typeface="Calibri"/>
              </a:defRPr>
            </a:pPr>
            <a:r>
              <a:t>Aditya Kumar Parashar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5394960"/>
            <a:ext cx="6126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99"/>
                </a:solidFill>
                <a:latin typeface="Calibri"/>
              </a:defRPr>
            </a:pPr>
            <a:r>
              <a:t>B.Tech  •  Computer Science &amp; Engineering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60350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99999"/>
                </a:solidFill>
                <a:latin typeface="Calibri"/>
              </a:defRPr>
            </a:pPr>
            <a:r>
              <a:t>"Feel the Music. Let Your Mood Choose the Playlist."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🎵 /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